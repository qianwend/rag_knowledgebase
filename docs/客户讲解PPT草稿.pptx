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7955279" y="-1097280"/>
            <a:ext cx="5029200" cy="5029200"/>
          </a:xfrm>
          <a:prstGeom prst="arc">
            <a:avLst/>
          </a:prstGeom>
          <a:noFill/>
          <a:ln w="63500">
            <a:solidFill>
              <a:srgbClr val="20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8412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RAGPro 智能知识问答与知识库管理系统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8046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YaHei"/>
              </a:rPr>
              <a:t>客户讲解版 | 知识上传、权限控制、智能问答、审计运维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154680"/>
            <a:ext cx="51206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19" y="3447288"/>
            <a:ext cx="448055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B43"/>
                </a:solidFill>
                <a:latin typeface="Microsoft YaHei"/>
              </a:rPr>
              <a:t>核心定位</a:t>
            </a:r>
          </a:p>
        </p:txBody>
      </p:sp>
      <p:sp>
        <p:nvSpPr>
          <p:cNvPr id="7" name="Oval 6"/>
          <p:cNvSpPr/>
          <p:nvPr/>
        </p:nvSpPr>
        <p:spPr>
          <a:xfrm>
            <a:off x="1197864" y="4023360"/>
            <a:ext cx="146304" cy="146304"/>
          </a:xfrm>
          <a:prstGeom prst="ellipse">
            <a:avLst/>
          </a:prstGeom>
          <a:solidFill>
            <a:srgbClr val="2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3959352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面向企业知识库的智能问答系统</a:t>
            </a:r>
          </a:p>
        </p:txBody>
      </p:sp>
      <p:sp>
        <p:nvSpPr>
          <p:cNvPr id="9" name="Oval 8"/>
          <p:cNvSpPr/>
          <p:nvPr/>
        </p:nvSpPr>
        <p:spPr>
          <a:xfrm>
            <a:off x="1197864" y="4681728"/>
            <a:ext cx="146304" cy="146304"/>
          </a:xfrm>
          <a:prstGeom prst="ellipse">
            <a:avLst/>
          </a:prstGeom>
          <a:solidFill>
            <a:srgbClr val="2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4617720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支持知识上传、索引重建、权限控制和问答追溯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5340096"/>
            <a:ext cx="146304" cy="146304"/>
          </a:xfrm>
          <a:prstGeom prst="ellipse">
            <a:avLst/>
          </a:prstGeom>
          <a:solidFill>
            <a:srgbClr val="2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5276088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适合内部资料查询、业务知识问答、制度/文档辅助检索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5349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icrosoft YaHei"/>
              </a:rPr>
              <a:t>客户讲解草稿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57150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2026-05-25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12064"/>
            <a:ext cx="8595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42B43"/>
                </a:solidFill>
                <a:latin typeface="Microsoft YaHei"/>
              </a:rPr>
              <a:t>为什么需要这套系统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512064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657684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5532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文档分散，员工不知道去哪里找最新资料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传统搜索只能给文件，不能直接给答案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人工答疑重复劳动多，知识沉淀难复用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不同岗位可看的知识范围不同，需要权限控制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知识更新后，需要有可维护的上传和重建索引流程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417320"/>
            <a:ext cx="4709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709928"/>
            <a:ext cx="4069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B43"/>
                </a:solidFill>
                <a:latin typeface="Microsoft YaHei"/>
              </a:rPr>
              <a:t>讲解提示</a:t>
            </a:r>
          </a:p>
        </p:txBody>
      </p:sp>
      <p:sp>
        <p:nvSpPr>
          <p:cNvPr id="9" name="Oval 8"/>
          <p:cNvSpPr/>
          <p:nvPr/>
        </p:nvSpPr>
        <p:spPr>
          <a:xfrm>
            <a:off x="6958584" y="2286000"/>
            <a:ext cx="146304" cy="146304"/>
          </a:xfrm>
          <a:prstGeom prst="ellipse">
            <a:avLst/>
          </a:prstGeom>
          <a:solidFill>
            <a:srgbClr val="4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2221992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这一页不要讲技术，讲客户日常痛点。可以举例：“新人问制度、业务人员查流程、管理员更新资料”，这些都是系统要覆盖的场景。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12064"/>
            <a:ext cx="8595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42B43"/>
                </a:solidFill>
                <a:latin typeface="Microsoft YaHei"/>
              </a:rPr>
              <a:t>从知识资料到可信问答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512064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657684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5532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管理员上传或维护知识资料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系统解析文档并建立检索索引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用户登录后按权限访问对应知识源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用户提问后，系统先匹配 FAQ，再进行知识检索和答案生成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管理员可查看用户、权限、知识源和审计记录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417320"/>
            <a:ext cx="4709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709928"/>
            <a:ext cx="4069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B43"/>
                </a:solidFill>
                <a:latin typeface="Microsoft YaHei"/>
              </a:rPr>
              <a:t>讲解提示</a:t>
            </a:r>
          </a:p>
        </p:txBody>
      </p:sp>
      <p:sp>
        <p:nvSpPr>
          <p:cNvPr id="9" name="Oval 8"/>
          <p:cNvSpPr/>
          <p:nvPr/>
        </p:nvSpPr>
        <p:spPr>
          <a:xfrm>
            <a:off x="6958584" y="2286000"/>
            <a:ext cx="146304" cy="146304"/>
          </a:xfrm>
          <a:prstGeom prst="ellipse">
            <a:avLst/>
          </a:prstGeom>
          <a:solidFill>
            <a:srgbClr val="4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2221992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客户只需要理解一条主线：资料进来，系统建索引；用户提问，系统基于资料回答；管理员负责维护资料和权限。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12064"/>
            <a:ext cx="8595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42B43"/>
                </a:solidFill>
                <a:latin typeface="Microsoft YaHei"/>
              </a:rPr>
              <a:t>不同角色看到不同能力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512064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657684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5532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普通用户：登录、提问、查看自己权限范围内的知识答案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业务管理员：维护知识资料、上传文档、重建索引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系统管理员：维护用户、知识源权限、组织和菜单角色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审计查看者：查看关键操作记录，辅助追踪问题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417320"/>
            <a:ext cx="4709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709928"/>
            <a:ext cx="4069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B43"/>
                </a:solidFill>
                <a:latin typeface="Microsoft YaHei"/>
              </a:rPr>
              <a:t>讲解提示</a:t>
            </a:r>
          </a:p>
        </p:txBody>
      </p:sp>
      <p:sp>
        <p:nvSpPr>
          <p:cNvPr id="9" name="Oval 8"/>
          <p:cNvSpPr/>
          <p:nvPr/>
        </p:nvSpPr>
        <p:spPr>
          <a:xfrm>
            <a:off x="6958584" y="2286000"/>
            <a:ext cx="146304" cy="146304"/>
          </a:xfrm>
          <a:prstGeom prst="ellipse">
            <a:avLst/>
          </a:prstGeom>
          <a:solidFill>
            <a:srgbClr val="4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2221992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强调权限边界。客户通常会关心“普通员工会不会看到不该看的资料”，这里要说明系统按账号和知识源控制访问范围。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12064"/>
            <a:ext cx="8595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42B43"/>
                </a:solidFill>
                <a:latin typeface="Microsoft YaHei"/>
              </a:rPr>
              <a:t>从登录开始使用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512064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657684"/>
                </a:solidFill>
                <a:latin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5532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用户通过账号密码登录系统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登录后显示当前用户身份和可访问能力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管理员可以创建账号、重置密码、禁用账号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不同权限用户进入系统后看到的菜单会不同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417320"/>
            <a:ext cx="4709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709928"/>
            <a:ext cx="4069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B43"/>
                </a:solidFill>
                <a:latin typeface="Microsoft YaHei"/>
              </a:rPr>
              <a:t>演示动作</a:t>
            </a:r>
          </a:p>
        </p:txBody>
      </p:sp>
      <p:sp>
        <p:nvSpPr>
          <p:cNvPr id="9" name="Oval 8"/>
          <p:cNvSpPr/>
          <p:nvPr/>
        </p:nvSpPr>
        <p:spPr>
          <a:xfrm>
            <a:off x="6958584" y="2286000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2221992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打开 /login</a:t>
            </a:r>
          </a:p>
        </p:txBody>
      </p:sp>
      <p:sp>
        <p:nvSpPr>
          <p:cNvPr id="11" name="Oval 10"/>
          <p:cNvSpPr/>
          <p:nvPr/>
        </p:nvSpPr>
        <p:spPr>
          <a:xfrm>
            <a:off x="6958584" y="2944368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880360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输入账号密码</a:t>
            </a:r>
          </a:p>
        </p:txBody>
      </p:sp>
      <p:sp>
        <p:nvSpPr>
          <p:cNvPr id="13" name="Oval 12"/>
          <p:cNvSpPr/>
          <p:nvPr/>
        </p:nvSpPr>
        <p:spPr>
          <a:xfrm>
            <a:off x="6958584" y="3602736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3538728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进入首页或问答页</a:t>
            </a:r>
          </a:p>
        </p:txBody>
      </p:sp>
      <p:sp>
        <p:nvSpPr>
          <p:cNvPr id="15" name="Oval 14"/>
          <p:cNvSpPr/>
          <p:nvPr/>
        </p:nvSpPr>
        <p:spPr>
          <a:xfrm>
            <a:off x="6958584" y="4261104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4197096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展示当前用户身份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12064"/>
            <a:ext cx="8595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42B43"/>
                </a:solidFill>
                <a:latin typeface="Microsoft YaHei"/>
              </a:rPr>
              <a:t>像问同事一样查询资料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512064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657684"/>
                </a:solidFill>
                <a:latin typeface="Microsoft Ya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5532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用户可以直接输入自然语言问题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系统优先匹配 FAQ，减少重复问答成本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FAQ 未命中时，系统会从知识库检索相关片段并生成回答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回答可带引用来源，便于用户判断可信度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支持会话历史，适合连续追问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417320"/>
            <a:ext cx="4709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709928"/>
            <a:ext cx="4069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B43"/>
                </a:solidFill>
                <a:latin typeface="Microsoft YaHei"/>
              </a:rPr>
              <a:t>演示动作</a:t>
            </a:r>
          </a:p>
        </p:txBody>
      </p:sp>
      <p:sp>
        <p:nvSpPr>
          <p:cNvPr id="9" name="Oval 8"/>
          <p:cNvSpPr/>
          <p:nvPr/>
        </p:nvSpPr>
        <p:spPr>
          <a:xfrm>
            <a:off x="6958584" y="2286000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2221992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进入 /qa</a:t>
            </a:r>
          </a:p>
        </p:txBody>
      </p:sp>
      <p:sp>
        <p:nvSpPr>
          <p:cNvPr id="11" name="Oval 10"/>
          <p:cNvSpPr/>
          <p:nvPr/>
        </p:nvSpPr>
        <p:spPr>
          <a:xfrm>
            <a:off x="6958584" y="2944368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880360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选择或确认知识源范围</a:t>
            </a:r>
          </a:p>
        </p:txBody>
      </p:sp>
      <p:sp>
        <p:nvSpPr>
          <p:cNvPr id="13" name="Oval 12"/>
          <p:cNvSpPr/>
          <p:nvPr/>
        </p:nvSpPr>
        <p:spPr>
          <a:xfrm>
            <a:off x="6958584" y="3602736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3538728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输入一个 FAQ 类问题</a:t>
            </a:r>
          </a:p>
        </p:txBody>
      </p:sp>
      <p:sp>
        <p:nvSpPr>
          <p:cNvPr id="15" name="Oval 14"/>
          <p:cNvSpPr/>
          <p:nvPr/>
        </p:nvSpPr>
        <p:spPr>
          <a:xfrm>
            <a:off x="6958584" y="4261104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4197096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再输入一个需要文档检索的问题</a:t>
            </a:r>
          </a:p>
        </p:txBody>
      </p:sp>
      <p:sp>
        <p:nvSpPr>
          <p:cNvPr id="17" name="Oval 16"/>
          <p:cNvSpPr/>
          <p:nvPr/>
        </p:nvSpPr>
        <p:spPr>
          <a:xfrm>
            <a:off x="6958584" y="4919472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4855464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展示答案、引用和会话连续性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12064"/>
            <a:ext cx="8595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42B43"/>
                </a:solidFill>
                <a:latin typeface="Microsoft YaHei"/>
              </a:rPr>
              <a:t>管理员维护知识资料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512064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657684"/>
                </a:solidFill>
                <a:latin typeface="Microsoft YaHe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5532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支持上传文本、Markdown、HTML、PDF、Word、PPT 等常见文档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支持单文件和多文件上传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上传后系统会保存文件并写入检索索引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管理员可以选择追加索引或替换指定知识源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上传结果会显示处理状态，方便排查失败文件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417320"/>
            <a:ext cx="4709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709928"/>
            <a:ext cx="4069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B43"/>
                </a:solidFill>
                <a:latin typeface="Microsoft YaHei"/>
              </a:rPr>
              <a:t>演示动作</a:t>
            </a:r>
          </a:p>
        </p:txBody>
      </p:sp>
      <p:sp>
        <p:nvSpPr>
          <p:cNvPr id="9" name="Oval 8"/>
          <p:cNvSpPr/>
          <p:nvPr/>
        </p:nvSpPr>
        <p:spPr>
          <a:xfrm>
            <a:off x="6958584" y="2286000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2221992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进入 /knowledge</a:t>
            </a:r>
          </a:p>
        </p:txBody>
      </p:sp>
      <p:sp>
        <p:nvSpPr>
          <p:cNvPr id="11" name="Oval 10"/>
          <p:cNvSpPr/>
          <p:nvPr/>
        </p:nvSpPr>
        <p:spPr>
          <a:xfrm>
            <a:off x="6958584" y="2944368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880360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选择知识源</a:t>
            </a:r>
          </a:p>
        </p:txBody>
      </p:sp>
      <p:sp>
        <p:nvSpPr>
          <p:cNvPr id="13" name="Oval 12"/>
          <p:cNvSpPr/>
          <p:nvPr/>
        </p:nvSpPr>
        <p:spPr>
          <a:xfrm>
            <a:off x="6958584" y="3602736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3538728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上传一个演示文档</a:t>
            </a:r>
          </a:p>
        </p:txBody>
      </p:sp>
      <p:sp>
        <p:nvSpPr>
          <p:cNvPr id="15" name="Oval 14"/>
          <p:cNvSpPr/>
          <p:nvPr/>
        </p:nvSpPr>
        <p:spPr>
          <a:xfrm>
            <a:off x="6958584" y="4261104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4197096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查看上传进度和结果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12064"/>
            <a:ext cx="8595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42B43"/>
                </a:solidFill>
                <a:latin typeface="Microsoft YaHei"/>
              </a:rPr>
              <a:t>资料更新后如何让问答生效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512064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657684"/>
                </a:solidFill>
                <a:latin typeface="Microsoft YaHe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5532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知识源用于区分不同业务资料范围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管理员可以查看和维护知识源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当资料批量更新时，可以对指定知识源重建索引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重建索引会影响问答结果，应由管理员谨慎操作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系统限制重建目录范围，降低误操作风险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417320"/>
            <a:ext cx="4709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709928"/>
            <a:ext cx="4069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B43"/>
                </a:solidFill>
                <a:latin typeface="Microsoft YaHei"/>
              </a:rPr>
              <a:t>演示动作</a:t>
            </a:r>
          </a:p>
        </p:txBody>
      </p:sp>
      <p:sp>
        <p:nvSpPr>
          <p:cNvPr id="9" name="Oval 8"/>
          <p:cNvSpPr/>
          <p:nvPr/>
        </p:nvSpPr>
        <p:spPr>
          <a:xfrm>
            <a:off x="6958584" y="2286000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2221992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进入 /knowledge/sources</a:t>
            </a:r>
          </a:p>
        </p:txBody>
      </p:sp>
      <p:sp>
        <p:nvSpPr>
          <p:cNvPr id="11" name="Oval 10"/>
          <p:cNvSpPr/>
          <p:nvPr/>
        </p:nvSpPr>
        <p:spPr>
          <a:xfrm>
            <a:off x="6958584" y="2944368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880360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展示知识源列表</a:t>
            </a:r>
          </a:p>
        </p:txBody>
      </p:sp>
      <p:sp>
        <p:nvSpPr>
          <p:cNvPr id="13" name="Oval 12"/>
          <p:cNvSpPr/>
          <p:nvPr/>
        </p:nvSpPr>
        <p:spPr>
          <a:xfrm>
            <a:off x="6958584" y="3602736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3538728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进入 /knowledge/reindex</a:t>
            </a:r>
          </a:p>
        </p:txBody>
      </p:sp>
      <p:sp>
        <p:nvSpPr>
          <p:cNvPr id="15" name="Oval 14"/>
          <p:cNvSpPr/>
          <p:nvPr/>
        </p:nvSpPr>
        <p:spPr>
          <a:xfrm>
            <a:off x="6958584" y="4261104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4197096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说明 append 和 replace 的区别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12064"/>
            <a:ext cx="8595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42B43"/>
                </a:solidFill>
                <a:latin typeface="Microsoft YaHei"/>
              </a:rPr>
              <a:t>知识可用，也要可控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512064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657684"/>
                </a:solidFill>
                <a:latin typeface="Microsoft YaHe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5532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管理员可以创建、禁用、删除用户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可以给用户分配可访问的知识源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支持组织、菜单角色和安全管理页面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关键操作记录在审计日志中，方便追踪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权限控制覆盖问答、上传、诊断和管理接口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417320"/>
            <a:ext cx="4709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709928"/>
            <a:ext cx="4069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B43"/>
                </a:solidFill>
                <a:latin typeface="Microsoft YaHei"/>
              </a:rPr>
              <a:t>演示动作</a:t>
            </a:r>
          </a:p>
        </p:txBody>
      </p:sp>
      <p:sp>
        <p:nvSpPr>
          <p:cNvPr id="9" name="Oval 8"/>
          <p:cNvSpPr/>
          <p:nvPr/>
        </p:nvSpPr>
        <p:spPr>
          <a:xfrm>
            <a:off x="6958584" y="2286000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2221992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进入 /users</a:t>
            </a:r>
          </a:p>
        </p:txBody>
      </p:sp>
      <p:sp>
        <p:nvSpPr>
          <p:cNvPr id="11" name="Oval 10"/>
          <p:cNvSpPr/>
          <p:nvPr/>
        </p:nvSpPr>
        <p:spPr>
          <a:xfrm>
            <a:off x="6958584" y="2944368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880360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展示用户列表</a:t>
            </a:r>
          </a:p>
        </p:txBody>
      </p:sp>
      <p:sp>
        <p:nvSpPr>
          <p:cNvPr id="13" name="Oval 12"/>
          <p:cNvSpPr/>
          <p:nvPr/>
        </p:nvSpPr>
        <p:spPr>
          <a:xfrm>
            <a:off x="6958584" y="3602736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3538728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进入 /users/access</a:t>
            </a:r>
          </a:p>
        </p:txBody>
      </p:sp>
      <p:sp>
        <p:nvSpPr>
          <p:cNvPr id="15" name="Oval 14"/>
          <p:cNvSpPr/>
          <p:nvPr/>
        </p:nvSpPr>
        <p:spPr>
          <a:xfrm>
            <a:off x="6958584" y="4261104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4197096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展示知识源授权</a:t>
            </a:r>
          </a:p>
        </p:txBody>
      </p:sp>
      <p:sp>
        <p:nvSpPr>
          <p:cNvPr id="17" name="Oval 16"/>
          <p:cNvSpPr/>
          <p:nvPr/>
        </p:nvSpPr>
        <p:spPr>
          <a:xfrm>
            <a:off x="6958584" y="4919472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4855464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进入 /users/audit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12064"/>
            <a:ext cx="8595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42B43"/>
                </a:solidFill>
                <a:latin typeface="Microsoft YaHei"/>
              </a:rPr>
              <a:t>管理员如何判断系统是否健康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512064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657684"/>
                </a:solidFill>
                <a:latin typeface="Microsoft Ya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5532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/health 用于快速判断系统是否可用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诊断能力可检查 MySQL、Redis、Milvus、Ollama 等依赖状态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当检索或生成依赖不可用时，系统会暴露状态信息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管理员可以根据状态定位是服务问题、知识源问题还是权限问题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417320"/>
            <a:ext cx="4709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709928"/>
            <a:ext cx="4069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B43"/>
                </a:solidFill>
                <a:latin typeface="Microsoft YaHei"/>
              </a:rPr>
              <a:t>讲解提示</a:t>
            </a:r>
          </a:p>
        </p:txBody>
      </p:sp>
      <p:sp>
        <p:nvSpPr>
          <p:cNvPr id="9" name="Oval 8"/>
          <p:cNvSpPr/>
          <p:nvPr/>
        </p:nvSpPr>
        <p:spPr>
          <a:xfrm>
            <a:off x="6958584" y="2286000"/>
            <a:ext cx="146304" cy="146304"/>
          </a:xfrm>
          <a:prstGeom prst="ellipse">
            <a:avLst/>
          </a:prstGeom>
          <a:solidFill>
            <a:srgbClr val="4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2221992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客户不一定需要看技术细节，但需要知道系统有健康检查和诊断入口。不要把内部服务参数讲太多，除非客户技术团队追问。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12064"/>
            <a:ext cx="8595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42B43"/>
                </a:solidFill>
                <a:latin typeface="Microsoft YaHei"/>
              </a:rPr>
              <a:t>一条完整演示线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512064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657684"/>
                </a:solidFill>
                <a:latin typeface="Microsoft YaHe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5532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第一步：管理员登录，展示知识库和用户管理能力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第二步：上传演示文档，展示上传进度和结果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第三步：普通用户登录，提出文档相关问题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第四步：展示答案、引用、会话追问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第五步：回到管理员，展示权限和审计记录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417320"/>
            <a:ext cx="4709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709928"/>
            <a:ext cx="4069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B43"/>
                </a:solidFill>
                <a:latin typeface="Microsoft YaHei"/>
              </a:rPr>
              <a:t>讲解提示</a:t>
            </a:r>
          </a:p>
        </p:txBody>
      </p:sp>
      <p:sp>
        <p:nvSpPr>
          <p:cNvPr id="9" name="Oval 8"/>
          <p:cNvSpPr/>
          <p:nvPr/>
        </p:nvSpPr>
        <p:spPr>
          <a:xfrm>
            <a:off x="6958584" y="2286000"/>
            <a:ext cx="146304" cy="146304"/>
          </a:xfrm>
          <a:prstGeom prst="ellipse">
            <a:avLst/>
          </a:prstGeom>
          <a:solidFill>
            <a:srgbClr val="4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2221992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演示顺序要贴近客户使用，而不是按技术模块讲。先让客户看到价值，再补管理能力。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12064"/>
            <a:ext cx="8595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42B43"/>
                </a:solidFill>
                <a:latin typeface="Microsoft YaHei"/>
              </a:rPr>
              <a:t>正式使用前的准备事项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512064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657684"/>
                </a:solidFill>
                <a:latin typeface="Microsoft YaHe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5532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明确首批知识资料范围和知识源分类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准备管理员账号和普通用户账号清单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确定哪些部门或角色可以访问哪些知识源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准备 20-50 个真实问题作为验收测试样例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确认部署环境、数据备份和日常维护责任人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417320"/>
            <a:ext cx="4709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709928"/>
            <a:ext cx="4069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B43"/>
                </a:solidFill>
                <a:latin typeface="Microsoft YaHei"/>
              </a:rPr>
              <a:t>讲解提示</a:t>
            </a:r>
          </a:p>
        </p:txBody>
      </p:sp>
      <p:sp>
        <p:nvSpPr>
          <p:cNvPr id="9" name="Oval 8"/>
          <p:cNvSpPr/>
          <p:nvPr/>
        </p:nvSpPr>
        <p:spPr>
          <a:xfrm>
            <a:off x="6958584" y="2286000"/>
            <a:ext cx="146304" cy="146304"/>
          </a:xfrm>
          <a:prstGeom prst="ellipse">
            <a:avLst/>
          </a:prstGeom>
          <a:solidFill>
            <a:srgbClr val="4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2221992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收尾不要只说“系统已经做好”，要引导客户提供上线所需资料和验收问题。这样后续项目推进会更顺。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