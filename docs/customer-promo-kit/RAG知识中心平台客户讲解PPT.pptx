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6766560" y="0"/>
            <a:ext cx="5440680" cy="6858000"/>
          </a:xfrm>
          <a:prstGeom prst="rtTriangle">
            <a:avLst/>
          </a:prstGeom>
          <a:solidFill>
            <a:srgbClr val="F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8079" y="658368"/>
            <a:ext cx="3200400" cy="3200400"/>
          </a:xfrm>
          <a:prstGeom prst="ellipse">
            <a:avLst/>
          </a:prstGeom>
          <a:solidFill>
            <a:srgbClr val="D2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" y="1481328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lang="zh-CN">
                <a:solidFill>
                  <a:srgbClr val="B07B2D"/>
                </a:solidFill>
                <a:latin typeface="Microsoft YaHei"/>
                <a:ea typeface="Microsoft YaHei"/>
                <a:cs typeface="Microsoft YaHei"/>
              </a:rPr>
              <a:t>ENTERPRISE KNOWLEDGE 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883664"/>
            <a:ext cx="5303520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 lang="zh-CN">
                <a:solidFill>
                  <a:srgbClr val="FFFFFF"/>
                </a:solidFill>
                <a:latin typeface="DengXian"/>
                <a:ea typeface="DengXian"/>
                <a:cs typeface="DengXian"/>
              </a:rPr>
              <a:t>RAG知识中心平台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3328416"/>
            <a:ext cx="5285232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让企业资料变成可权限管控、可追溯、可运营的智能问答能力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901952"/>
            <a:ext cx="3520440" cy="24871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44967" y="2276856"/>
            <a:ext cx="164592" cy="164592"/>
          </a:xfrm>
          <a:prstGeom prst="ellipse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9" y="219456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这不是单纯的聊天机器人，而是面向企业知识资产管理的内部知识中心。</a:t>
            </a:r>
          </a:p>
        </p:txBody>
      </p:sp>
      <p:sp>
        <p:nvSpPr>
          <p:cNvPr id="10" name="Oval 9"/>
          <p:cNvSpPr/>
          <p:nvPr/>
        </p:nvSpPr>
        <p:spPr>
          <a:xfrm>
            <a:off x="7744967" y="2990087"/>
            <a:ext cx="164592" cy="164592"/>
          </a:xfrm>
          <a:prstGeom prst="ellipse">
            <a:avLst/>
          </a:prstGeom>
          <a:solidFill>
            <a:srgbClr val="B0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9" y="2907791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系统重点解决“资料找不到、答案不统一、权限不好控、结果不可追溯”的问题。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1504" y="5084064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lang="zh-CN">
                <a:solidFill>
                  <a:srgbClr val="0E7E76"/>
                </a:solidFill>
                <a:latin typeface="Microsoft YaHei"/>
                <a:ea typeface="Microsoft YaHei"/>
                <a:cs typeface="Microsoft YaHei"/>
              </a:rPr>
              <a:t>客户讲解版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1504" y="5440680"/>
            <a:ext cx="34564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 lang="zh-CN">
                <a:solidFill>
                  <a:srgbClr val="697A84"/>
                </a:solidFill>
                <a:latin typeface="Microsoft YaHei"/>
                <a:ea typeface="Microsoft YaHei"/>
                <a:cs typeface="Microsoft YaHei"/>
              </a:rPr>
              <a:t>适用于产品介绍、试点启动、上线培训前说明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0976" cy="6858000"/>
          </a:xfrm>
          <a:prstGeom prst="rect">
            <a:avLst/>
          </a:prstGeom>
          <a:solidFill>
            <a:srgbClr val="05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" y="0"/>
            <a:ext cx="11247120" cy="146304"/>
          </a:xfrm>
          <a:prstGeom prst="rect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0976" y="6620256"/>
            <a:ext cx="11247120" cy="54864"/>
          </a:xfrm>
          <a:prstGeom prst="rect">
            <a:avLst/>
          </a:prstGeom>
          <a:solidFill>
            <a:srgbClr val="B0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9456" y="320040"/>
            <a:ext cx="512064" cy="512064"/>
          </a:xfrm>
          <a:prstGeom prst="ellipse">
            <a:avLst/>
          </a:prstGeom>
          <a:solidFill>
            <a:srgbClr val="0E7E76"/>
          </a:solidFill>
          <a:ln>
            <a:solidFill>
              <a:srgbClr val="D2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" y="6254496"/>
            <a:ext cx="594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530352"/>
            <a:ext cx="7955279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lang="zh-CN">
                <a:solidFill>
                  <a:srgbClr val="0F2435"/>
                </a:solidFill>
                <a:latin typeface="DengXian"/>
                <a:ea typeface="DengXian"/>
                <a:cs typeface="DengXian"/>
              </a:rPr>
              <a:t>客户常见痛点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106424"/>
            <a:ext cx="8595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 lang="zh-CN">
                <a:solidFill>
                  <a:srgbClr val="697A84"/>
                </a:solidFill>
                <a:latin typeface="Microsoft YaHei"/>
                <a:ea typeface="Microsoft YaHei"/>
                <a:cs typeface="Microsoft YaHei"/>
              </a:rPr>
              <a:t>企业知识通常不是缺资料，而是缺少可用的知识入口。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03504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 lang="zh-CN">
                <a:solidFill>
                  <a:srgbClr val="0E7E76"/>
                </a:solidFill>
                <a:latin typeface="Microsoft YaHei"/>
                <a:ea typeface="Microsoft YaHei"/>
                <a:cs typeface="Microsoft YaHei"/>
              </a:rPr>
              <a:t>RAG知识中心平台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8448" y="1700784"/>
            <a:ext cx="6199632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18488" y="2075688"/>
            <a:ext cx="164592" cy="164592"/>
          </a:xfrm>
          <a:prstGeom prst="ellipse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1993392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资料散落在网盘、群文件、个人电脑、业务系统中。</a:t>
            </a:r>
          </a:p>
        </p:txBody>
      </p:sp>
      <p:sp>
        <p:nvSpPr>
          <p:cNvPr id="13" name="Oval 12"/>
          <p:cNvSpPr/>
          <p:nvPr/>
        </p:nvSpPr>
        <p:spPr>
          <a:xfrm>
            <a:off x="1618488" y="2788920"/>
            <a:ext cx="164592" cy="164592"/>
          </a:xfrm>
          <a:prstGeom prst="ellipse">
            <a:avLst/>
          </a:prstGeom>
          <a:solidFill>
            <a:srgbClr val="B0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2706624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新员工和一线人员经常重复询问同类问题。</a:t>
            </a:r>
          </a:p>
        </p:txBody>
      </p:sp>
      <p:sp>
        <p:nvSpPr>
          <p:cNvPr id="15" name="Oval 14"/>
          <p:cNvSpPr/>
          <p:nvPr/>
        </p:nvSpPr>
        <p:spPr>
          <a:xfrm>
            <a:off x="1618488" y="3502152"/>
            <a:ext cx="164592" cy="164592"/>
          </a:xfrm>
          <a:prstGeom prst="ellipse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3419856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文件版本更新后，旧口径仍在流转。</a:t>
            </a:r>
          </a:p>
        </p:txBody>
      </p:sp>
      <p:sp>
        <p:nvSpPr>
          <p:cNvPr id="17" name="Oval 16"/>
          <p:cNvSpPr/>
          <p:nvPr/>
        </p:nvSpPr>
        <p:spPr>
          <a:xfrm>
            <a:off x="1618488" y="4215384"/>
            <a:ext cx="164592" cy="164592"/>
          </a:xfrm>
          <a:prstGeom prst="ellipse">
            <a:avLst/>
          </a:prstGeom>
          <a:solidFill>
            <a:srgbClr val="B0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4133088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普通AI工具无法区分不同人员能看什么资料。</a:t>
            </a:r>
          </a:p>
        </p:txBody>
      </p:sp>
      <p:sp>
        <p:nvSpPr>
          <p:cNvPr id="19" name="Oval 18"/>
          <p:cNvSpPr/>
          <p:nvPr/>
        </p:nvSpPr>
        <p:spPr>
          <a:xfrm>
            <a:off x="1618488" y="4928616"/>
            <a:ext cx="164592" cy="164592"/>
          </a:xfrm>
          <a:prstGeom prst="ellipse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4846320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回答没有来源，业务部门和客户都不敢直接采用。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82127" y="1627632"/>
            <a:ext cx="3310128" cy="4206240"/>
          </a:xfrm>
          <a:prstGeom prst="roundRect">
            <a:avLst/>
          </a:prstGeom>
          <a:solidFill>
            <a:srgbClr val="D2F1E8"/>
          </a:solidFill>
          <a:ln>
            <a:solidFill>
              <a:srgbClr val="DA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1965960"/>
            <a:ext cx="267004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zh-CN">
                <a:solidFill>
                  <a:srgbClr val="0E7E76"/>
                </a:solidFill>
                <a:latin typeface="Microsoft YaHei"/>
                <a:ea typeface="Microsoft YaHei"/>
                <a:cs typeface="Microsoft YaHei"/>
              </a:rPr>
              <a:t>讲解提示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514600"/>
            <a:ext cx="257860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先让客户代入日常场景，不急着介绍技术。；可以举例：“制度更新了，但大家仍然拿旧文件回答客户。”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0976" cy="6858000"/>
          </a:xfrm>
          <a:prstGeom prst="rect">
            <a:avLst/>
          </a:prstGeom>
          <a:solidFill>
            <a:srgbClr val="05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" y="0"/>
            <a:ext cx="11247120" cy="146304"/>
          </a:xfrm>
          <a:prstGeom prst="rect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0976" y="6620256"/>
            <a:ext cx="11247120" cy="54864"/>
          </a:xfrm>
          <a:prstGeom prst="rect">
            <a:avLst/>
          </a:prstGeom>
          <a:solidFill>
            <a:srgbClr val="B0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9456" y="320040"/>
            <a:ext cx="512064" cy="512064"/>
          </a:xfrm>
          <a:prstGeom prst="ellipse">
            <a:avLst/>
          </a:prstGeom>
          <a:solidFill>
            <a:srgbClr val="0E7E76"/>
          </a:solidFill>
          <a:ln>
            <a:solidFill>
              <a:srgbClr val="D2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" y="6254496"/>
            <a:ext cx="594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530352"/>
            <a:ext cx="7955279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lang="zh-CN">
                <a:solidFill>
                  <a:srgbClr val="0F2435"/>
                </a:solidFill>
                <a:latin typeface="DengXian"/>
                <a:ea typeface="DengXian"/>
                <a:cs typeface="DengXian"/>
              </a:rPr>
              <a:t>系统定位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106424"/>
            <a:ext cx="8595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 lang="zh-CN">
                <a:solidFill>
                  <a:srgbClr val="697A84"/>
                </a:solidFill>
                <a:latin typeface="Microsoft YaHei"/>
                <a:ea typeface="Microsoft YaHei"/>
                <a:cs typeface="Microsoft YaHei"/>
              </a:rPr>
              <a:t>RAG知识中心平台定位为企业内部知识问答和资料运营平台。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03504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 lang="zh-CN">
                <a:solidFill>
                  <a:srgbClr val="0E7E76"/>
                </a:solidFill>
                <a:latin typeface="Microsoft YaHei"/>
                <a:ea typeface="Microsoft YaHei"/>
                <a:cs typeface="Microsoft YaHei"/>
              </a:rPr>
              <a:t>RAG知识中心平台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8448" y="1700784"/>
            <a:ext cx="6199632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18488" y="2075688"/>
            <a:ext cx="164592" cy="164592"/>
          </a:xfrm>
          <a:prstGeom prst="ellipse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1993392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把企业资料统一入库，形成可运营的知识资产。</a:t>
            </a:r>
          </a:p>
        </p:txBody>
      </p:sp>
      <p:sp>
        <p:nvSpPr>
          <p:cNvPr id="13" name="Oval 12"/>
          <p:cNvSpPr/>
          <p:nvPr/>
        </p:nvSpPr>
        <p:spPr>
          <a:xfrm>
            <a:off x="1618488" y="2788920"/>
            <a:ext cx="164592" cy="164592"/>
          </a:xfrm>
          <a:prstGeom prst="ellipse">
            <a:avLst/>
          </a:prstGeom>
          <a:solidFill>
            <a:srgbClr val="B0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2706624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按用户、角色、来源范围控制可访问内容。</a:t>
            </a:r>
          </a:p>
        </p:txBody>
      </p:sp>
      <p:sp>
        <p:nvSpPr>
          <p:cNvPr id="15" name="Oval 14"/>
          <p:cNvSpPr/>
          <p:nvPr/>
        </p:nvSpPr>
        <p:spPr>
          <a:xfrm>
            <a:off x="1618488" y="3502152"/>
            <a:ext cx="164592" cy="164592"/>
          </a:xfrm>
          <a:prstGeom prst="ellipse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3419856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让员工用自然语言提问，并查看回答依据。</a:t>
            </a:r>
          </a:p>
        </p:txBody>
      </p:sp>
      <p:sp>
        <p:nvSpPr>
          <p:cNvPr id="17" name="Oval 16"/>
          <p:cNvSpPr/>
          <p:nvPr/>
        </p:nvSpPr>
        <p:spPr>
          <a:xfrm>
            <a:off x="1618488" y="4215384"/>
            <a:ext cx="164592" cy="164592"/>
          </a:xfrm>
          <a:prstGeom prst="ellipse">
            <a:avLst/>
          </a:prstGeom>
          <a:solidFill>
            <a:srgbClr val="B0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4133088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找答案更快。</a:t>
            </a:r>
          </a:p>
        </p:txBody>
      </p:sp>
      <p:sp>
        <p:nvSpPr>
          <p:cNvPr id="19" name="Oval 18"/>
          <p:cNvSpPr/>
          <p:nvPr/>
        </p:nvSpPr>
        <p:spPr>
          <a:xfrm>
            <a:off x="1618488" y="4928616"/>
            <a:ext cx="164592" cy="164592"/>
          </a:xfrm>
          <a:prstGeom prst="ellipse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4846320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回答口径更统一。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82127" y="1627632"/>
            <a:ext cx="3310128" cy="4206240"/>
          </a:xfrm>
          <a:prstGeom prst="roundRect">
            <a:avLst/>
          </a:prstGeom>
          <a:solidFill>
            <a:srgbClr val="D2F1E8"/>
          </a:solidFill>
          <a:ln>
            <a:solidFill>
              <a:srgbClr val="DA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1965960"/>
            <a:ext cx="267004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zh-CN">
                <a:solidFill>
                  <a:srgbClr val="0E7E76"/>
                </a:solidFill>
                <a:latin typeface="Microsoft YaHei"/>
                <a:ea typeface="Microsoft YaHei"/>
                <a:cs typeface="Microsoft YaHei"/>
              </a:rPr>
              <a:t>讲解提示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514600"/>
            <a:ext cx="257860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先讲业务价值，再讲系统能力。客户最关心的是能不能上线、能不能控权限、出了问题能不能追溯。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0976" cy="6858000"/>
          </a:xfrm>
          <a:prstGeom prst="rect">
            <a:avLst/>
          </a:prstGeom>
          <a:solidFill>
            <a:srgbClr val="05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" y="0"/>
            <a:ext cx="11247120" cy="146304"/>
          </a:xfrm>
          <a:prstGeom prst="rect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0976" y="6620256"/>
            <a:ext cx="11247120" cy="54864"/>
          </a:xfrm>
          <a:prstGeom prst="rect">
            <a:avLst/>
          </a:prstGeom>
          <a:solidFill>
            <a:srgbClr val="B0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9456" y="320040"/>
            <a:ext cx="512064" cy="512064"/>
          </a:xfrm>
          <a:prstGeom prst="ellipse">
            <a:avLst/>
          </a:prstGeom>
          <a:solidFill>
            <a:srgbClr val="0E7E76"/>
          </a:solidFill>
          <a:ln>
            <a:solidFill>
              <a:srgbClr val="D2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" y="6254496"/>
            <a:ext cx="594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530352"/>
            <a:ext cx="7955279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lang="zh-CN">
                <a:solidFill>
                  <a:srgbClr val="0F2435"/>
                </a:solidFill>
                <a:latin typeface="DengXian"/>
                <a:ea typeface="DengXian"/>
                <a:cs typeface="DengXian"/>
              </a:rPr>
              <a:t>整体业务流程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03504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 lang="zh-CN">
                <a:solidFill>
                  <a:srgbClr val="0E7E76"/>
                </a:solidFill>
                <a:latin typeface="Microsoft YaHei"/>
                <a:ea typeface="Microsoft YaHei"/>
                <a:cs typeface="Microsoft YaHei"/>
              </a:rPr>
              <a:t>RAG知识中心平台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98448" y="1847088"/>
            <a:ext cx="23317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E7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39" y="2002536"/>
            <a:ext cx="19933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1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1. 资料准备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694176" y="2048256"/>
            <a:ext cx="384048" cy="201168"/>
          </a:xfrm>
          <a:prstGeom prst="rightArrow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25696" y="1847088"/>
            <a:ext cx="23317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E7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002536"/>
            <a:ext cx="19933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1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2. 上传入库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821424" y="2048256"/>
            <a:ext cx="384048" cy="201168"/>
          </a:xfrm>
          <a:prstGeom prst="rightArrow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52944" y="1847088"/>
            <a:ext cx="23317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E7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17536" y="2002536"/>
            <a:ext cx="19933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1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3. 解析切片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98448" y="3072384"/>
            <a:ext cx="23317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E7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39" y="3227832"/>
            <a:ext cx="19933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1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4. 向量索引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694176" y="3273552"/>
            <a:ext cx="384048" cy="201168"/>
          </a:xfrm>
          <a:prstGeom prst="rightArrow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25696" y="3072384"/>
            <a:ext cx="23317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E7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0288" y="3227832"/>
            <a:ext cx="19933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1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5. 权限绑定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821424" y="3273552"/>
            <a:ext cx="384048" cy="201168"/>
          </a:xfrm>
          <a:prstGeom prst="rightArrow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52944" y="3072384"/>
            <a:ext cx="23317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B07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17536" y="3227832"/>
            <a:ext cx="19933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1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6. 用户提问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98448" y="4297680"/>
            <a:ext cx="23317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B07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63039" y="4453128"/>
            <a:ext cx="19933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1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7. 检索授权知识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694176" y="4498848"/>
            <a:ext cx="384048" cy="201168"/>
          </a:xfrm>
          <a:prstGeom prst="rightArrow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25696" y="4297680"/>
            <a:ext cx="23317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B07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0288" y="4453128"/>
            <a:ext cx="19933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1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8. 生成回答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821424" y="4498848"/>
            <a:ext cx="384048" cy="201168"/>
          </a:xfrm>
          <a:prstGeom prst="rightArrow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552944" y="4297680"/>
            <a:ext cx="23317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B07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17536" y="4453128"/>
            <a:ext cx="19933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1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9. 引用追溯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82127" y="1627632"/>
            <a:ext cx="3310128" cy="4206240"/>
          </a:xfrm>
          <a:prstGeom prst="roundRect">
            <a:avLst/>
          </a:prstGeom>
          <a:solidFill>
            <a:srgbClr val="D2F1E8"/>
          </a:solidFill>
          <a:ln>
            <a:solidFill>
              <a:srgbClr val="DA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79" y="1965960"/>
            <a:ext cx="267004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zh-CN">
                <a:solidFill>
                  <a:srgbClr val="0E7E76"/>
                </a:solidFill>
                <a:latin typeface="Microsoft YaHei"/>
                <a:ea typeface="Microsoft YaHei"/>
                <a:cs typeface="Microsoft YaHei"/>
              </a:rPr>
              <a:t>客户理解重点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2514600"/>
            <a:ext cx="257860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资料进入系统后，先被解析和索引，再按权限进入问答范围。用户看到的答案来自被授权的知识，而不是无边界生成。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0976" cy="6858000"/>
          </a:xfrm>
          <a:prstGeom prst="rect">
            <a:avLst/>
          </a:prstGeom>
          <a:solidFill>
            <a:srgbClr val="05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" y="0"/>
            <a:ext cx="11247120" cy="146304"/>
          </a:xfrm>
          <a:prstGeom prst="rect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0976" y="6620256"/>
            <a:ext cx="11247120" cy="54864"/>
          </a:xfrm>
          <a:prstGeom prst="rect">
            <a:avLst/>
          </a:prstGeom>
          <a:solidFill>
            <a:srgbClr val="B0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9456" y="320040"/>
            <a:ext cx="512064" cy="512064"/>
          </a:xfrm>
          <a:prstGeom prst="ellipse">
            <a:avLst/>
          </a:prstGeom>
          <a:solidFill>
            <a:srgbClr val="0E7E76"/>
          </a:solidFill>
          <a:ln>
            <a:solidFill>
              <a:srgbClr val="D2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" y="6254496"/>
            <a:ext cx="594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530352"/>
            <a:ext cx="7955279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lang="zh-CN">
                <a:solidFill>
                  <a:srgbClr val="0F2435"/>
                </a:solidFill>
                <a:latin typeface="DengXian"/>
                <a:ea typeface="DengXian"/>
                <a:cs typeface="DengXian"/>
              </a:rPr>
              <a:t>角色与权限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106424"/>
            <a:ext cx="8595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 lang="zh-CN">
                <a:solidFill>
                  <a:srgbClr val="697A84"/>
                </a:solidFill>
                <a:latin typeface="Microsoft YaHei"/>
                <a:ea typeface="Microsoft YaHei"/>
                <a:cs typeface="Microsoft YaHei"/>
              </a:rPr>
              <a:t>系统支持按人员角色分工使用。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03504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 lang="zh-CN">
                <a:solidFill>
                  <a:srgbClr val="0E7E76"/>
                </a:solidFill>
                <a:latin typeface="Microsoft YaHei"/>
                <a:ea typeface="Microsoft YaHei"/>
                <a:cs typeface="Microsoft YaHei"/>
              </a:rPr>
              <a:t>RAG知识中心平台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8448" y="1700784"/>
            <a:ext cx="6199632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18488" y="2075688"/>
            <a:ext cx="164592" cy="164592"/>
          </a:xfrm>
          <a:prstGeom prst="ellipse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1993392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平台管理员：管理用户、组织、菜单角色、权限和系统配置。</a:t>
            </a:r>
          </a:p>
        </p:txBody>
      </p:sp>
      <p:sp>
        <p:nvSpPr>
          <p:cNvPr id="13" name="Oval 12"/>
          <p:cNvSpPr/>
          <p:nvPr/>
        </p:nvSpPr>
        <p:spPr>
          <a:xfrm>
            <a:off x="1618488" y="2788920"/>
            <a:ext cx="164592" cy="164592"/>
          </a:xfrm>
          <a:prstGeom prst="ellipse">
            <a:avLst/>
          </a:prstGeom>
          <a:solidFill>
            <a:srgbClr val="B0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2706624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知识运营人员：上传资料、维护知识来源、查看入库结果、处理知识更新。</a:t>
            </a:r>
          </a:p>
        </p:txBody>
      </p:sp>
      <p:sp>
        <p:nvSpPr>
          <p:cNvPr id="15" name="Oval 14"/>
          <p:cNvSpPr/>
          <p:nvPr/>
        </p:nvSpPr>
        <p:spPr>
          <a:xfrm>
            <a:off x="1618488" y="3502152"/>
            <a:ext cx="164592" cy="164592"/>
          </a:xfrm>
          <a:prstGeom prst="ellipse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3419856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普通问答用户：在授权范围内提问和查看历史。</a:t>
            </a:r>
          </a:p>
        </p:txBody>
      </p:sp>
      <p:sp>
        <p:nvSpPr>
          <p:cNvPr id="17" name="Oval 16"/>
          <p:cNvSpPr/>
          <p:nvPr/>
        </p:nvSpPr>
        <p:spPr>
          <a:xfrm>
            <a:off x="1618488" y="4215384"/>
            <a:ext cx="164592" cy="164592"/>
          </a:xfrm>
          <a:prstGeom prst="ellipse">
            <a:avLst/>
          </a:prstGeom>
          <a:solidFill>
            <a:srgbClr val="B0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4133088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审计查看人员：查看系统操作记录和访问留痕。</a:t>
            </a:r>
          </a:p>
        </p:txBody>
      </p:sp>
      <p:sp>
        <p:nvSpPr>
          <p:cNvPr id="19" name="Oval 18"/>
          <p:cNvSpPr/>
          <p:nvPr/>
        </p:nvSpPr>
        <p:spPr>
          <a:xfrm>
            <a:off x="1618488" y="4928616"/>
            <a:ext cx="164592" cy="164592"/>
          </a:xfrm>
          <a:prstGeom prst="ellipse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4846320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不是所有人都能看到所有资料。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82127" y="1627632"/>
            <a:ext cx="3310128" cy="4206240"/>
          </a:xfrm>
          <a:prstGeom prst="roundRect">
            <a:avLst/>
          </a:prstGeom>
          <a:solidFill>
            <a:srgbClr val="D2F1E8"/>
          </a:solidFill>
          <a:ln>
            <a:solidFill>
              <a:srgbClr val="DA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1965960"/>
            <a:ext cx="267004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zh-CN">
                <a:solidFill>
                  <a:srgbClr val="0E7E76"/>
                </a:solidFill>
                <a:latin typeface="Microsoft YaHei"/>
                <a:ea typeface="Microsoft YaHei"/>
                <a:cs typeface="Microsoft YaHei"/>
              </a:rPr>
              <a:t>讲解提示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514600"/>
            <a:ext cx="257860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先讲业务价值，再讲系统能力。客户最关心的是能不能上线、能不能控权限、出了问题能不能追溯。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0976" cy="6858000"/>
          </a:xfrm>
          <a:prstGeom prst="rect">
            <a:avLst/>
          </a:prstGeom>
          <a:solidFill>
            <a:srgbClr val="05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" y="0"/>
            <a:ext cx="11247120" cy="146304"/>
          </a:xfrm>
          <a:prstGeom prst="rect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0976" y="6620256"/>
            <a:ext cx="11247120" cy="54864"/>
          </a:xfrm>
          <a:prstGeom prst="rect">
            <a:avLst/>
          </a:prstGeom>
          <a:solidFill>
            <a:srgbClr val="B0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9456" y="320040"/>
            <a:ext cx="512064" cy="512064"/>
          </a:xfrm>
          <a:prstGeom prst="ellipse">
            <a:avLst/>
          </a:prstGeom>
          <a:solidFill>
            <a:srgbClr val="0E7E76"/>
          </a:solidFill>
          <a:ln>
            <a:solidFill>
              <a:srgbClr val="D2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" y="6254496"/>
            <a:ext cx="594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530352"/>
            <a:ext cx="7955279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lang="zh-CN">
                <a:solidFill>
                  <a:srgbClr val="0F2435"/>
                </a:solidFill>
                <a:latin typeface="DengXian"/>
                <a:ea typeface="DengXian"/>
                <a:cs typeface="DengXian"/>
              </a:rPr>
              <a:t>问答工作台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106424"/>
            <a:ext cx="8595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 lang="zh-CN">
                <a:solidFill>
                  <a:srgbClr val="697A84"/>
                </a:solidFill>
                <a:latin typeface="Microsoft YaHei"/>
                <a:ea typeface="Microsoft YaHei"/>
                <a:cs typeface="Microsoft YaHei"/>
              </a:rPr>
              <a:t>问答工作台是用户日常使用入口。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03504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 lang="zh-CN">
                <a:solidFill>
                  <a:srgbClr val="0E7E76"/>
                </a:solidFill>
                <a:latin typeface="Microsoft YaHei"/>
                <a:ea typeface="Microsoft YaHei"/>
                <a:cs typeface="Microsoft YaHei"/>
              </a:rPr>
              <a:t>RAG知识中心平台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8448" y="1700784"/>
            <a:ext cx="6199632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18488" y="2075688"/>
            <a:ext cx="164592" cy="164592"/>
          </a:xfrm>
          <a:prstGeom prst="ellipse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1993392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用户直接输入业务问题。</a:t>
            </a:r>
          </a:p>
        </p:txBody>
      </p:sp>
      <p:sp>
        <p:nvSpPr>
          <p:cNvPr id="13" name="Oval 12"/>
          <p:cNvSpPr/>
          <p:nvPr/>
        </p:nvSpPr>
        <p:spPr>
          <a:xfrm>
            <a:off x="1618488" y="2788920"/>
            <a:ext cx="164592" cy="164592"/>
          </a:xfrm>
          <a:prstGeom prst="ellipse">
            <a:avLst/>
          </a:prstGeom>
          <a:solidFill>
            <a:srgbClr val="B0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2706624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系统基于授权知识范围进行检索和回答。</a:t>
            </a:r>
          </a:p>
        </p:txBody>
      </p:sp>
      <p:sp>
        <p:nvSpPr>
          <p:cNvPr id="15" name="Oval 14"/>
          <p:cNvSpPr/>
          <p:nvPr/>
        </p:nvSpPr>
        <p:spPr>
          <a:xfrm>
            <a:off x="1618488" y="3502152"/>
            <a:ext cx="164592" cy="164592"/>
          </a:xfrm>
          <a:prstGeom prst="ellipse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3419856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右侧保留路由、引用和历史记录，方便核验。</a:t>
            </a:r>
          </a:p>
        </p:txBody>
      </p:sp>
      <p:sp>
        <p:nvSpPr>
          <p:cNvPr id="17" name="Oval 16"/>
          <p:cNvSpPr/>
          <p:nvPr/>
        </p:nvSpPr>
        <p:spPr>
          <a:xfrm>
            <a:off x="1618488" y="4215384"/>
            <a:ext cx="164592" cy="164592"/>
          </a:xfrm>
          <a:prstGeom prst="ellipse">
            <a:avLst/>
          </a:prstGeom>
          <a:solidFill>
            <a:srgbClr val="B0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4133088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对话历史可回看，便于复盘常见问题。</a:t>
            </a:r>
          </a:p>
        </p:txBody>
      </p:sp>
      <p:sp>
        <p:nvSpPr>
          <p:cNvPr id="19" name="Oval 18"/>
          <p:cNvSpPr/>
          <p:nvPr/>
        </p:nvSpPr>
        <p:spPr>
          <a:xfrm>
            <a:off x="1618488" y="4928616"/>
            <a:ext cx="164592" cy="164592"/>
          </a:xfrm>
          <a:prstGeom prst="ellipse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4846320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强调“回答不是凭空生成，而是围绕入库资料和权限范围生成”。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82127" y="1627632"/>
            <a:ext cx="3310128" cy="4206240"/>
          </a:xfrm>
          <a:prstGeom prst="roundRect">
            <a:avLst/>
          </a:prstGeom>
          <a:solidFill>
            <a:srgbClr val="D2F1E8"/>
          </a:solidFill>
          <a:ln>
            <a:solidFill>
              <a:srgbClr val="DA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1965960"/>
            <a:ext cx="267004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zh-CN">
                <a:solidFill>
                  <a:srgbClr val="0E7E76"/>
                </a:solidFill>
                <a:latin typeface="Microsoft YaHei"/>
                <a:ea typeface="Microsoft YaHei"/>
                <a:cs typeface="Microsoft YaHei"/>
              </a:rPr>
              <a:t>讲解提示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514600"/>
            <a:ext cx="257860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先问一个客户熟悉的问题。；展示回答后，再展示引用来源。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0976" cy="6858000"/>
          </a:xfrm>
          <a:prstGeom prst="rect">
            <a:avLst/>
          </a:prstGeom>
          <a:solidFill>
            <a:srgbClr val="05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" y="0"/>
            <a:ext cx="11247120" cy="146304"/>
          </a:xfrm>
          <a:prstGeom prst="rect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0976" y="6620256"/>
            <a:ext cx="11247120" cy="54864"/>
          </a:xfrm>
          <a:prstGeom prst="rect">
            <a:avLst/>
          </a:prstGeom>
          <a:solidFill>
            <a:srgbClr val="B0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9456" y="320040"/>
            <a:ext cx="512064" cy="512064"/>
          </a:xfrm>
          <a:prstGeom prst="ellipse">
            <a:avLst/>
          </a:prstGeom>
          <a:solidFill>
            <a:srgbClr val="0E7E76"/>
          </a:solidFill>
          <a:ln>
            <a:solidFill>
              <a:srgbClr val="D2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" y="6254496"/>
            <a:ext cx="594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530352"/>
            <a:ext cx="7955279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lang="zh-CN">
                <a:solidFill>
                  <a:srgbClr val="0F2435"/>
                </a:solidFill>
                <a:latin typeface="DengXian"/>
                <a:ea typeface="DengXian"/>
                <a:cs typeface="DengXian"/>
              </a:rPr>
              <a:t>上传入库与文件管理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106424"/>
            <a:ext cx="8595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 lang="zh-CN">
                <a:solidFill>
                  <a:srgbClr val="697A84"/>
                </a:solidFill>
                <a:latin typeface="Microsoft YaHei"/>
                <a:ea typeface="Microsoft YaHei"/>
                <a:cs typeface="Microsoft YaHei"/>
              </a:rPr>
              <a:t>知识运营人员可以把企业资料上传到系统。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03504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 lang="zh-CN">
                <a:solidFill>
                  <a:srgbClr val="0E7E76"/>
                </a:solidFill>
                <a:latin typeface="Microsoft YaHei"/>
                <a:ea typeface="Microsoft YaHei"/>
                <a:cs typeface="Microsoft YaHei"/>
              </a:rPr>
              <a:t>RAG知识中心平台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8448" y="1700784"/>
            <a:ext cx="6199632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18488" y="2075688"/>
            <a:ext cx="164592" cy="164592"/>
          </a:xfrm>
          <a:prstGeom prst="ellipse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1993392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支持单文件和批量资料入库。</a:t>
            </a:r>
          </a:p>
        </p:txBody>
      </p:sp>
      <p:sp>
        <p:nvSpPr>
          <p:cNvPr id="13" name="Oval 12"/>
          <p:cNvSpPr/>
          <p:nvPr/>
        </p:nvSpPr>
        <p:spPr>
          <a:xfrm>
            <a:off x="1618488" y="2788920"/>
            <a:ext cx="164592" cy="164592"/>
          </a:xfrm>
          <a:prstGeom prst="ellipse">
            <a:avLst/>
          </a:prstGeom>
          <a:solidFill>
            <a:srgbClr val="B0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2706624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上传后可以查看处理进度和入库结果。</a:t>
            </a:r>
          </a:p>
        </p:txBody>
      </p:sp>
      <p:sp>
        <p:nvSpPr>
          <p:cNvPr id="15" name="Oval 14"/>
          <p:cNvSpPr/>
          <p:nvPr/>
        </p:nvSpPr>
        <p:spPr>
          <a:xfrm>
            <a:off x="1618488" y="3502152"/>
            <a:ext cx="164592" cy="164592"/>
          </a:xfrm>
          <a:prstGeom prst="ellipse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3419856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文件管理支持按文件、来源、入库人员、上传时间范围查询。</a:t>
            </a:r>
          </a:p>
        </p:txBody>
      </p:sp>
      <p:sp>
        <p:nvSpPr>
          <p:cNvPr id="17" name="Oval 16"/>
          <p:cNvSpPr/>
          <p:nvPr/>
        </p:nvSpPr>
        <p:spPr>
          <a:xfrm>
            <a:off x="1618488" y="4215384"/>
            <a:ext cx="164592" cy="164592"/>
          </a:xfrm>
          <a:prstGeom prst="ellipse">
            <a:avLst/>
          </a:prstGeom>
          <a:solidFill>
            <a:srgbClr val="B0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4133088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已入库文件支持查看原文、下载原文、删除文件。</a:t>
            </a:r>
          </a:p>
        </p:txBody>
      </p:sp>
      <p:sp>
        <p:nvSpPr>
          <p:cNvPr id="19" name="Oval 18"/>
          <p:cNvSpPr/>
          <p:nvPr/>
        </p:nvSpPr>
        <p:spPr>
          <a:xfrm>
            <a:off x="1618488" y="4928616"/>
            <a:ext cx="164592" cy="164592"/>
          </a:xfrm>
          <a:prstGeom prst="ellipse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4846320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资料入库过程可管理。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82127" y="1627632"/>
            <a:ext cx="3310128" cy="4206240"/>
          </a:xfrm>
          <a:prstGeom prst="roundRect">
            <a:avLst/>
          </a:prstGeom>
          <a:solidFill>
            <a:srgbClr val="D2F1E8"/>
          </a:solidFill>
          <a:ln>
            <a:solidFill>
              <a:srgbClr val="DA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1965960"/>
            <a:ext cx="267004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zh-CN">
                <a:solidFill>
                  <a:srgbClr val="0E7E76"/>
                </a:solidFill>
                <a:latin typeface="Microsoft YaHei"/>
                <a:ea typeface="Microsoft YaHei"/>
                <a:cs typeface="Microsoft YaHei"/>
              </a:rPr>
              <a:t>讲解提示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514600"/>
            <a:ext cx="257860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先讲业务价值，再讲系统能力。客户最关心的是能不能上线、能不能控权限、出了问题能不能追溯。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0976" cy="6858000"/>
          </a:xfrm>
          <a:prstGeom prst="rect">
            <a:avLst/>
          </a:prstGeom>
          <a:solidFill>
            <a:srgbClr val="05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" y="0"/>
            <a:ext cx="11247120" cy="146304"/>
          </a:xfrm>
          <a:prstGeom prst="rect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0976" y="6620256"/>
            <a:ext cx="11247120" cy="54864"/>
          </a:xfrm>
          <a:prstGeom prst="rect">
            <a:avLst/>
          </a:prstGeom>
          <a:solidFill>
            <a:srgbClr val="B0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9456" y="320040"/>
            <a:ext cx="512064" cy="512064"/>
          </a:xfrm>
          <a:prstGeom prst="ellipse">
            <a:avLst/>
          </a:prstGeom>
          <a:solidFill>
            <a:srgbClr val="0E7E76"/>
          </a:solidFill>
          <a:ln>
            <a:solidFill>
              <a:srgbClr val="D2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" y="6254496"/>
            <a:ext cx="594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530352"/>
            <a:ext cx="7955279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lang="zh-CN">
                <a:solidFill>
                  <a:srgbClr val="0F2435"/>
                </a:solidFill>
                <a:latin typeface="DengXian"/>
                <a:ea typeface="DengXian"/>
                <a:cs typeface="DengXian"/>
              </a:rPr>
              <a:t>来源管理与知识边界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106424"/>
            <a:ext cx="8595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 lang="zh-CN">
                <a:solidFill>
                  <a:srgbClr val="697A84"/>
                </a:solidFill>
                <a:latin typeface="Microsoft YaHei"/>
                <a:ea typeface="Microsoft YaHei"/>
                <a:cs typeface="Microsoft YaHei"/>
              </a:rPr>
              <a:t>来源可以理解为一组资料的业务归属或知识空间。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03504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 lang="zh-CN">
                <a:solidFill>
                  <a:srgbClr val="0E7E76"/>
                </a:solidFill>
                <a:latin typeface="Microsoft YaHei"/>
                <a:ea typeface="Microsoft YaHei"/>
                <a:cs typeface="Microsoft YaHei"/>
              </a:rPr>
              <a:t>RAG知识中心平台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8448" y="1700784"/>
            <a:ext cx="6199632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18488" y="2075688"/>
            <a:ext cx="164592" cy="164592"/>
          </a:xfrm>
          <a:prstGeom prst="ellipse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1993392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产品资料来源。</a:t>
            </a:r>
          </a:p>
        </p:txBody>
      </p:sp>
      <p:sp>
        <p:nvSpPr>
          <p:cNvPr id="13" name="Oval 12"/>
          <p:cNvSpPr/>
          <p:nvPr/>
        </p:nvSpPr>
        <p:spPr>
          <a:xfrm>
            <a:off x="1618488" y="2788920"/>
            <a:ext cx="164592" cy="164592"/>
          </a:xfrm>
          <a:prstGeom prst="ellipse">
            <a:avLst/>
          </a:prstGeom>
          <a:solidFill>
            <a:srgbClr val="B0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2706624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售后知识来源。</a:t>
            </a:r>
          </a:p>
        </p:txBody>
      </p:sp>
      <p:sp>
        <p:nvSpPr>
          <p:cNvPr id="15" name="Oval 14"/>
          <p:cNvSpPr/>
          <p:nvPr/>
        </p:nvSpPr>
        <p:spPr>
          <a:xfrm>
            <a:off x="1618488" y="3502152"/>
            <a:ext cx="164592" cy="164592"/>
          </a:xfrm>
          <a:prstGeom prst="ellipse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3419856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制度规范来源。</a:t>
            </a:r>
          </a:p>
        </p:txBody>
      </p:sp>
      <p:sp>
        <p:nvSpPr>
          <p:cNvPr id="17" name="Oval 16"/>
          <p:cNvSpPr/>
          <p:nvPr/>
        </p:nvSpPr>
        <p:spPr>
          <a:xfrm>
            <a:off x="1618488" y="4215384"/>
            <a:ext cx="164592" cy="164592"/>
          </a:xfrm>
          <a:prstGeom prst="ellipse">
            <a:avLst/>
          </a:prstGeom>
          <a:solidFill>
            <a:srgbClr val="B0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4133088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项目资料来源。</a:t>
            </a:r>
          </a:p>
        </p:txBody>
      </p:sp>
      <p:sp>
        <p:nvSpPr>
          <p:cNvPr id="19" name="Oval 18"/>
          <p:cNvSpPr/>
          <p:nvPr/>
        </p:nvSpPr>
        <p:spPr>
          <a:xfrm>
            <a:off x="1618488" y="4928616"/>
            <a:ext cx="164592" cy="164592"/>
          </a:xfrm>
          <a:prstGeom prst="ellipse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4846320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部门专属知识来源。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82127" y="1627632"/>
            <a:ext cx="3310128" cy="4206240"/>
          </a:xfrm>
          <a:prstGeom prst="roundRect">
            <a:avLst/>
          </a:prstGeom>
          <a:solidFill>
            <a:srgbClr val="D2F1E8"/>
          </a:solidFill>
          <a:ln>
            <a:solidFill>
              <a:srgbClr val="DA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1965960"/>
            <a:ext cx="267004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zh-CN">
                <a:solidFill>
                  <a:srgbClr val="0E7E76"/>
                </a:solidFill>
                <a:latin typeface="Microsoft YaHei"/>
                <a:ea typeface="Microsoft YaHei"/>
                <a:cs typeface="Microsoft YaHei"/>
              </a:rPr>
              <a:t>讲解提示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514600"/>
            <a:ext cx="257860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来源名称建议由客户业务部门统一规划，避免后期频繁改名。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0976" cy="6858000"/>
          </a:xfrm>
          <a:prstGeom prst="rect">
            <a:avLst/>
          </a:prstGeom>
          <a:solidFill>
            <a:srgbClr val="05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" y="0"/>
            <a:ext cx="11247120" cy="146304"/>
          </a:xfrm>
          <a:prstGeom prst="rect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0976" y="6620256"/>
            <a:ext cx="11247120" cy="54864"/>
          </a:xfrm>
          <a:prstGeom prst="rect">
            <a:avLst/>
          </a:prstGeom>
          <a:solidFill>
            <a:srgbClr val="B0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9456" y="320040"/>
            <a:ext cx="512064" cy="512064"/>
          </a:xfrm>
          <a:prstGeom prst="ellipse">
            <a:avLst/>
          </a:prstGeom>
          <a:solidFill>
            <a:srgbClr val="0E7E76"/>
          </a:solidFill>
          <a:ln>
            <a:solidFill>
              <a:srgbClr val="D2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" y="6254496"/>
            <a:ext cx="594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530352"/>
            <a:ext cx="7955279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lang="zh-CN">
                <a:solidFill>
                  <a:srgbClr val="0F2435"/>
                </a:solidFill>
                <a:latin typeface="DengXian"/>
                <a:ea typeface="DengXian"/>
                <a:cs typeface="DengXian"/>
              </a:rPr>
              <a:t>权限系统与审计日志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106424"/>
            <a:ext cx="8595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 lang="zh-CN">
                <a:solidFill>
                  <a:srgbClr val="697A84"/>
                </a:solidFill>
                <a:latin typeface="Microsoft YaHei"/>
                <a:ea typeface="Microsoft YaHei"/>
                <a:cs typeface="Microsoft YaHei"/>
              </a:rPr>
              <a:t>系统不是只做问答，也提供后台治理能力。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03504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 lang="zh-CN">
                <a:solidFill>
                  <a:srgbClr val="0E7E76"/>
                </a:solidFill>
                <a:latin typeface="Microsoft YaHei"/>
                <a:ea typeface="Microsoft YaHei"/>
                <a:cs typeface="Microsoft YaHei"/>
              </a:rPr>
              <a:t>RAG知识中心平台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8448" y="1700784"/>
            <a:ext cx="6199632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18488" y="2075688"/>
            <a:ext cx="164592" cy="164592"/>
          </a:xfrm>
          <a:prstGeom prst="ellipse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1993392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用户信息。</a:t>
            </a:r>
          </a:p>
        </p:txBody>
      </p:sp>
      <p:sp>
        <p:nvSpPr>
          <p:cNvPr id="13" name="Oval 12"/>
          <p:cNvSpPr/>
          <p:nvPr/>
        </p:nvSpPr>
        <p:spPr>
          <a:xfrm>
            <a:off x="1618488" y="2788920"/>
            <a:ext cx="164592" cy="164592"/>
          </a:xfrm>
          <a:prstGeom prst="ellipse">
            <a:avLst/>
          </a:prstGeom>
          <a:solidFill>
            <a:srgbClr val="B0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2706624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组织机构。</a:t>
            </a:r>
          </a:p>
        </p:txBody>
      </p:sp>
      <p:sp>
        <p:nvSpPr>
          <p:cNvPr id="15" name="Oval 14"/>
          <p:cNvSpPr/>
          <p:nvPr/>
        </p:nvSpPr>
        <p:spPr>
          <a:xfrm>
            <a:off x="1618488" y="3502152"/>
            <a:ext cx="164592" cy="164592"/>
          </a:xfrm>
          <a:prstGeom prst="ellipse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3419856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菜单角色。</a:t>
            </a:r>
          </a:p>
        </p:txBody>
      </p:sp>
      <p:sp>
        <p:nvSpPr>
          <p:cNvPr id="17" name="Oval 16"/>
          <p:cNvSpPr/>
          <p:nvPr/>
        </p:nvSpPr>
        <p:spPr>
          <a:xfrm>
            <a:off x="1618488" y="4215384"/>
            <a:ext cx="164592" cy="164592"/>
          </a:xfrm>
          <a:prstGeom prst="ellipse">
            <a:avLst/>
          </a:prstGeom>
          <a:solidFill>
            <a:srgbClr val="B0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4133088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菜单管理。</a:t>
            </a:r>
          </a:p>
        </p:txBody>
      </p:sp>
      <p:sp>
        <p:nvSpPr>
          <p:cNvPr id="19" name="Oval 18"/>
          <p:cNvSpPr/>
          <p:nvPr/>
        </p:nvSpPr>
        <p:spPr>
          <a:xfrm>
            <a:off x="1618488" y="4928616"/>
            <a:ext cx="164592" cy="164592"/>
          </a:xfrm>
          <a:prstGeom prst="ellipse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4846320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审计日志。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82127" y="1627632"/>
            <a:ext cx="3310128" cy="4206240"/>
          </a:xfrm>
          <a:prstGeom prst="roundRect">
            <a:avLst/>
          </a:prstGeom>
          <a:solidFill>
            <a:srgbClr val="D2F1E8"/>
          </a:solidFill>
          <a:ln>
            <a:solidFill>
              <a:srgbClr val="DA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1965960"/>
            <a:ext cx="267004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zh-CN">
                <a:solidFill>
                  <a:srgbClr val="0E7E76"/>
                </a:solidFill>
                <a:latin typeface="Microsoft YaHei"/>
                <a:ea typeface="Microsoft YaHei"/>
                <a:cs typeface="Microsoft YaHei"/>
              </a:rPr>
              <a:t>讲解提示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514600"/>
            <a:ext cx="257860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先讲业务价值，再讲系统能力。客户最关心的是能不能上线、能不能控权限、出了问题能不能追溯。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0976" cy="6858000"/>
          </a:xfrm>
          <a:prstGeom prst="rect">
            <a:avLst/>
          </a:prstGeom>
          <a:solidFill>
            <a:srgbClr val="05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" y="0"/>
            <a:ext cx="11247120" cy="146304"/>
          </a:xfrm>
          <a:prstGeom prst="rect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0976" y="6620256"/>
            <a:ext cx="11247120" cy="54864"/>
          </a:xfrm>
          <a:prstGeom prst="rect">
            <a:avLst/>
          </a:prstGeom>
          <a:solidFill>
            <a:srgbClr val="B0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9456" y="320040"/>
            <a:ext cx="512064" cy="512064"/>
          </a:xfrm>
          <a:prstGeom prst="ellipse">
            <a:avLst/>
          </a:prstGeom>
          <a:solidFill>
            <a:srgbClr val="0E7E76"/>
          </a:solidFill>
          <a:ln>
            <a:solidFill>
              <a:srgbClr val="D2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" y="6254496"/>
            <a:ext cx="594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530352"/>
            <a:ext cx="7955279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lang="zh-CN">
                <a:solidFill>
                  <a:srgbClr val="0F2435"/>
                </a:solidFill>
                <a:latin typeface="DengXian"/>
                <a:ea typeface="DengXian"/>
                <a:cs typeface="DengXian"/>
              </a:rPr>
              <a:t>部署与安全边界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03504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 lang="zh-CN">
                <a:solidFill>
                  <a:srgbClr val="0E7E76"/>
                </a:solidFill>
                <a:latin typeface="Microsoft YaHei"/>
                <a:ea typeface="Microsoft YaHei"/>
                <a:cs typeface="Microsoft YaHei"/>
              </a:rPr>
              <a:t>RAG知识中心平台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98448" y="1700784"/>
            <a:ext cx="6199632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18488" y="2075688"/>
            <a:ext cx="164592" cy="164592"/>
          </a:xfrm>
          <a:prstGeom prst="ellipse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1993392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前端页面。</a:t>
            </a:r>
          </a:p>
        </p:txBody>
      </p:sp>
      <p:sp>
        <p:nvSpPr>
          <p:cNvPr id="12" name="Oval 11"/>
          <p:cNvSpPr/>
          <p:nvPr/>
        </p:nvSpPr>
        <p:spPr>
          <a:xfrm>
            <a:off x="1618488" y="2788920"/>
            <a:ext cx="164592" cy="164592"/>
          </a:xfrm>
          <a:prstGeom prst="ellipse">
            <a:avLst/>
          </a:prstGeom>
          <a:solidFill>
            <a:srgbClr val="B0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2706624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FastAPI后端服务。</a:t>
            </a:r>
          </a:p>
        </p:txBody>
      </p:sp>
      <p:sp>
        <p:nvSpPr>
          <p:cNvPr id="14" name="Oval 13"/>
          <p:cNvSpPr/>
          <p:nvPr/>
        </p:nvSpPr>
        <p:spPr>
          <a:xfrm>
            <a:off x="1618488" y="3502152"/>
            <a:ext cx="164592" cy="164592"/>
          </a:xfrm>
          <a:prstGeom prst="ellipse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3419856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MySQL数据库。</a:t>
            </a:r>
          </a:p>
        </p:txBody>
      </p:sp>
      <p:sp>
        <p:nvSpPr>
          <p:cNvPr id="16" name="Oval 15"/>
          <p:cNvSpPr/>
          <p:nvPr/>
        </p:nvSpPr>
        <p:spPr>
          <a:xfrm>
            <a:off x="1618488" y="4215384"/>
            <a:ext cx="164592" cy="164592"/>
          </a:xfrm>
          <a:prstGeom prst="ellipse">
            <a:avLst/>
          </a:prstGeom>
          <a:solidFill>
            <a:srgbClr val="B0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4133088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Redis缓存。</a:t>
            </a:r>
          </a:p>
        </p:txBody>
      </p:sp>
      <p:sp>
        <p:nvSpPr>
          <p:cNvPr id="18" name="Oval 17"/>
          <p:cNvSpPr/>
          <p:nvPr/>
        </p:nvSpPr>
        <p:spPr>
          <a:xfrm>
            <a:off x="1618488" y="4928616"/>
            <a:ext cx="164592" cy="164592"/>
          </a:xfrm>
          <a:prstGeom prst="ellipse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0240" y="4846320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Milvus向量库。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82127" y="1627632"/>
            <a:ext cx="3310128" cy="4206240"/>
          </a:xfrm>
          <a:prstGeom prst="roundRect">
            <a:avLst/>
          </a:prstGeom>
          <a:solidFill>
            <a:srgbClr val="D2F1E8"/>
          </a:solidFill>
          <a:ln>
            <a:solidFill>
              <a:srgbClr val="DA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1965960"/>
            <a:ext cx="267004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zh-CN">
                <a:solidFill>
                  <a:srgbClr val="0E7E76"/>
                </a:solidFill>
                <a:latin typeface="Microsoft YaHei"/>
                <a:ea typeface="Microsoft YaHei"/>
                <a:cs typeface="Microsoft YaHei"/>
              </a:rPr>
              <a:t>讲解提示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2514600"/>
            <a:ext cx="257860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对IT客户可以展示部署说明。；对业务客户只需要强调“能在企业可控环境中运行”。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0976" cy="6858000"/>
          </a:xfrm>
          <a:prstGeom prst="rect">
            <a:avLst/>
          </a:prstGeom>
          <a:solidFill>
            <a:srgbClr val="05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" y="0"/>
            <a:ext cx="11247120" cy="146304"/>
          </a:xfrm>
          <a:prstGeom prst="rect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0976" y="6620256"/>
            <a:ext cx="11247120" cy="54864"/>
          </a:xfrm>
          <a:prstGeom prst="rect">
            <a:avLst/>
          </a:prstGeom>
          <a:solidFill>
            <a:srgbClr val="B0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9456" y="320040"/>
            <a:ext cx="512064" cy="512064"/>
          </a:xfrm>
          <a:prstGeom prst="ellipse">
            <a:avLst/>
          </a:prstGeom>
          <a:solidFill>
            <a:srgbClr val="0E7E76"/>
          </a:solidFill>
          <a:ln>
            <a:solidFill>
              <a:srgbClr val="D2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" y="6254496"/>
            <a:ext cx="594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530352"/>
            <a:ext cx="7955279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lang="zh-CN">
                <a:solidFill>
                  <a:srgbClr val="0F2435"/>
                </a:solidFill>
                <a:latin typeface="DengXian"/>
                <a:ea typeface="DengXian"/>
                <a:cs typeface="DengXian"/>
              </a:rPr>
              <a:t>试点落地路径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106424"/>
            <a:ext cx="8595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 lang="zh-CN">
                <a:solidFill>
                  <a:srgbClr val="697A84"/>
                </a:solidFill>
                <a:latin typeface="Microsoft YaHei"/>
                <a:ea typeface="Microsoft YaHei"/>
                <a:cs typeface="Microsoft YaHei"/>
              </a:rPr>
              <a:t>建议先做小范围试点，再逐步推广。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03504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 lang="zh-CN">
                <a:solidFill>
                  <a:srgbClr val="0E7E76"/>
                </a:solidFill>
                <a:latin typeface="Microsoft YaHei"/>
                <a:ea typeface="Microsoft YaHei"/>
                <a:cs typeface="Microsoft YaHei"/>
              </a:rPr>
              <a:t>RAG知识中心平台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8448" y="1700784"/>
            <a:ext cx="6199632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18488" y="2075688"/>
            <a:ext cx="164592" cy="164592"/>
          </a:xfrm>
          <a:prstGeom prst="ellipse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1993392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选择1个业务部门。</a:t>
            </a:r>
          </a:p>
        </p:txBody>
      </p:sp>
      <p:sp>
        <p:nvSpPr>
          <p:cNvPr id="13" name="Oval 12"/>
          <p:cNvSpPr/>
          <p:nvPr/>
        </p:nvSpPr>
        <p:spPr>
          <a:xfrm>
            <a:off x="1618488" y="2788920"/>
            <a:ext cx="164592" cy="164592"/>
          </a:xfrm>
          <a:prstGeom prst="ellipse">
            <a:avLst/>
          </a:prstGeom>
          <a:solidFill>
            <a:srgbClr val="B0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2706624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准备2到3个知识来源。</a:t>
            </a:r>
          </a:p>
        </p:txBody>
      </p:sp>
      <p:sp>
        <p:nvSpPr>
          <p:cNvPr id="15" name="Oval 14"/>
          <p:cNvSpPr/>
          <p:nvPr/>
        </p:nvSpPr>
        <p:spPr>
          <a:xfrm>
            <a:off x="1618488" y="3502152"/>
            <a:ext cx="164592" cy="164592"/>
          </a:xfrm>
          <a:prstGeom prst="ellipse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3419856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入库30到50份代表性资料。</a:t>
            </a:r>
          </a:p>
        </p:txBody>
      </p:sp>
      <p:sp>
        <p:nvSpPr>
          <p:cNvPr id="17" name="Oval 16"/>
          <p:cNvSpPr/>
          <p:nvPr/>
        </p:nvSpPr>
        <p:spPr>
          <a:xfrm>
            <a:off x="1618488" y="4215384"/>
            <a:ext cx="164592" cy="164592"/>
          </a:xfrm>
          <a:prstGeom prst="ellipse">
            <a:avLst/>
          </a:prstGeom>
          <a:solidFill>
            <a:srgbClr val="B0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4133088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准备20到50个真实业务问题作为验收问题。</a:t>
            </a:r>
          </a:p>
        </p:txBody>
      </p:sp>
      <p:sp>
        <p:nvSpPr>
          <p:cNvPr id="19" name="Oval 18"/>
          <p:cNvSpPr/>
          <p:nvPr/>
        </p:nvSpPr>
        <p:spPr>
          <a:xfrm>
            <a:off x="1618488" y="4928616"/>
            <a:ext cx="164592" cy="164592"/>
          </a:xfrm>
          <a:prstGeom prst="ellipse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4846320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邀请5到20名试点用户体验。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82127" y="1627632"/>
            <a:ext cx="3310128" cy="4206240"/>
          </a:xfrm>
          <a:prstGeom prst="roundRect">
            <a:avLst/>
          </a:prstGeom>
          <a:solidFill>
            <a:srgbClr val="D2F1E8"/>
          </a:solidFill>
          <a:ln>
            <a:solidFill>
              <a:srgbClr val="DA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1965960"/>
            <a:ext cx="267004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zh-CN">
                <a:solidFill>
                  <a:srgbClr val="0E7E76"/>
                </a:solidFill>
                <a:latin typeface="Microsoft YaHei"/>
                <a:ea typeface="Microsoft YaHei"/>
                <a:cs typeface="Microsoft YaHei"/>
              </a:rPr>
              <a:t>讲解提示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514600"/>
            <a:ext cx="257860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先讲业务价值，再讲系统能力。客户最关心的是能不能上线、能不能控权限、出了问题能不能追溯。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0976" cy="6858000"/>
          </a:xfrm>
          <a:prstGeom prst="rect">
            <a:avLst/>
          </a:prstGeom>
          <a:solidFill>
            <a:srgbClr val="05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" y="0"/>
            <a:ext cx="11247120" cy="146304"/>
          </a:xfrm>
          <a:prstGeom prst="rect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0976" y="6620256"/>
            <a:ext cx="11247120" cy="54864"/>
          </a:xfrm>
          <a:prstGeom prst="rect">
            <a:avLst/>
          </a:prstGeom>
          <a:solidFill>
            <a:srgbClr val="B0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9456" y="320040"/>
            <a:ext cx="512064" cy="512064"/>
          </a:xfrm>
          <a:prstGeom prst="ellipse">
            <a:avLst/>
          </a:prstGeom>
          <a:solidFill>
            <a:srgbClr val="0E7E76"/>
          </a:solidFill>
          <a:ln>
            <a:solidFill>
              <a:srgbClr val="D2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" y="6254496"/>
            <a:ext cx="594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530352"/>
            <a:ext cx="7955279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lang="zh-CN">
                <a:solidFill>
                  <a:srgbClr val="0F2435"/>
                </a:solidFill>
                <a:latin typeface="DengXian"/>
                <a:ea typeface="DengXian"/>
                <a:cs typeface="DengXian"/>
              </a:rPr>
              <a:t>上线前客户配合清单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03504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 lang="zh-CN">
                <a:solidFill>
                  <a:srgbClr val="0E7E76"/>
                </a:solidFill>
                <a:latin typeface="Microsoft YaHei"/>
                <a:ea typeface="Microsoft YaHei"/>
                <a:cs typeface="Microsoft YaHei"/>
              </a:rPr>
              <a:t>RAG知识中心平台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98448" y="1700784"/>
            <a:ext cx="6199632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18488" y="2075688"/>
            <a:ext cx="164592" cy="164592"/>
          </a:xfrm>
          <a:prstGeom prst="ellipse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1993392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部署服务器或云资源。</a:t>
            </a:r>
          </a:p>
        </p:txBody>
      </p:sp>
      <p:sp>
        <p:nvSpPr>
          <p:cNvPr id="12" name="Oval 11"/>
          <p:cNvSpPr/>
          <p:nvPr/>
        </p:nvSpPr>
        <p:spPr>
          <a:xfrm>
            <a:off x="1618488" y="2788920"/>
            <a:ext cx="164592" cy="164592"/>
          </a:xfrm>
          <a:prstGeom prst="ellipse">
            <a:avLst/>
          </a:prstGeom>
          <a:solidFill>
            <a:srgbClr val="B0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2706624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数据库、缓存、向量库、模型服务运行环境。</a:t>
            </a:r>
          </a:p>
        </p:txBody>
      </p:sp>
      <p:sp>
        <p:nvSpPr>
          <p:cNvPr id="14" name="Oval 13"/>
          <p:cNvSpPr/>
          <p:nvPr/>
        </p:nvSpPr>
        <p:spPr>
          <a:xfrm>
            <a:off x="1618488" y="3502152"/>
            <a:ext cx="164592" cy="164592"/>
          </a:xfrm>
          <a:prstGeom prst="ellipse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3419856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试点资料和来源分类。</a:t>
            </a:r>
          </a:p>
        </p:txBody>
      </p:sp>
      <p:sp>
        <p:nvSpPr>
          <p:cNvPr id="16" name="Oval 15"/>
          <p:cNvSpPr/>
          <p:nvPr/>
        </p:nvSpPr>
        <p:spPr>
          <a:xfrm>
            <a:off x="1618488" y="4215384"/>
            <a:ext cx="164592" cy="164592"/>
          </a:xfrm>
          <a:prstGeom prst="ellipse">
            <a:avLst/>
          </a:prstGeom>
          <a:solidFill>
            <a:srgbClr val="B0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4133088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试点用户清单和角色权限规则。</a:t>
            </a:r>
          </a:p>
        </p:txBody>
      </p:sp>
      <p:sp>
        <p:nvSpPr>
          <p:cNvPr id="18" name="Oval 17"/>
          <p:cNvSpPr/>
          <p:nvPr/>
        </p:nvSpPr>
        <p:spPr>
          <a:xfrm>
            <a:off x="1618488" y="4928616"/>
            <a:ext cx="164592" cy="164592"/>
          </a:xfrm>
          <a:prstGeom prst="ellipse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0240" y="4846320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验收问题清单。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82127" y="1627632"/>
            <a:ext cx="3310128" cy="4206240"/>
          </a:xfrm>
          <a:prstGeom prst="roundRect">
            <a:avLst/>
          </a:prstGeom>
          <a:solidFill>
            <a:srgbClr val="D2F1E8"/>
          </a:solidFill>
          <a:ln>
            <a:solidFill>
              <a:srgbClr val="DA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1965960"/>
            <a:ext cx="267004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zh-CN">
                <a:solidFill>
                  <a:srgbClr val="0E7E76"/>
                </a:solidFill>
                <a:latin typeface="Microsoft YaHei"/>
                <a:ea typeface="Microsoft YaHei"/>
                <a:cs typeface="Microsoft YaHei"/>
              </a:rPr>
              <a:t>讲解提示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2514600"/>
            <a:ext cx="257860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先讲业务价值，再讲系统能力。客户最关心的是能不能上线、能不能控权限、出了问题能不能追溯。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0976" cy="6858000"/>
          </a:xfrm>
          <a:prstGeom prst="rect">
            <a:avLst/>
          </a:prstGeom>
          <a:solidFill>
            <a:srgbClr val="05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" y="0"/>
            <a:ext cx="11247120" cy="146304"/>
          </a:xfrm>
          <a:prstGeom prst="rect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0976" y="6620256"/>
            <a:ext cx="11247120" cy="54864"/>
          </a:xfrm>
          <a:prstGeom prst="rect">
            <a:avLst/>
          </a:prstGeom>
          <a:solidFill>
            <a:srgbClr val="B0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9456" y="320040"/>
            <a:ext cx="512064" cy="512064"/>
          </a:xfrm>
          <a:prstGeom prst="ellipse">
            <a:avLst/>
          </a:prstGeom>
          <a:solidFill>
            <a:srgbClr val="0E7E76"/>
          </a:solidFill>
          <a:ln>
            <a:solidFill>
              <a:srgbClr val="D2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" y="6254496"/>
            <a:ext cx="594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530352"/>
            <a:ext cx="7955279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lang="zh-CN">
                <a:solidFill>
                  <a:srgbClr val="0F2435"/>
                </a:solidFill>
                <a:latin typeface="DengXian"/>
                <a:ea typeface="DengXian"/>
                <a:cs typeface="DengXian"/>
              </a:rPr>
              <a:t>结尾页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106424"/>
            <a:ext cx="8595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0" lang="zh-CN">
                <a:solidFill>
                  <a:srgbClr val="697A84"/>
                </a:solidFill>
                <a:latin typeface="Microsoft YaHei"/>
                <a:ea typeface="Microsoft YaHei"/>
                <a:cs typeface="Microsoft YaHei"/>
              </a:rPr>
              <a:t>RAG知识中心平台的目标不是让AI替代业务人员，而是让企业已有资料真正被用起来。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03504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 lang="zh-CN">
                <a:solidFill>
                  <a:srgbClr val="0E7E76"/>
                </a:solidFill>
                <a:latin typeface="Microsoft YaHei"/>
                <a:ea typeface="Microsoft YaHei"/>
                <a:cs typeface="Microsoft YaHei"/>
              </a:rPr>
              <a:t>RAG知识中心平台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8448" y="1700784"/>
            <a:ext cx="6199632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18488" y="2075688"/>
            <a:ext cx="164592" cy="164592"/>
          </a:xfrm>
          <a:prstGeom prst="ellipse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1993392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资料统一入库，知识资产可运营。</a:t>
            </a:r>
          </a:p>
        </p:txBody>
      </p:sp>
      <p:sp>
        <p:nvSpPr>
          <p:cNvPr id="13" name="Oval 12"/>
          <p:cNvSpPr/>
          <p:nvPr/>
        </p:nvSpPr>
        <p:spPr>
          <a:xfrm>
            <a:off x="1618488" y="2788920"/>
            <a:ext cx="164592" cy="164592"/>
          </a:xfrm>
          <a:prstGeom prst="ellipse">
            <a:avLst/>
          </a:prstGeom>
          <a:solidFill>
            <a:srgbClr val="B07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2706624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问答有权限边界，结果有来源依据。</a:t>
            </a:r>
          </a:p>
        </p:txBody>
      </p:sp>
      <p:sp>
        <p:nvSpPr>
          <p:cNvPr id="15" name="Oval 14"/>
          <p:cNvSpPr/>
          <p:nvPr/>
        </p:nvSpPr>
        <p:spPr>
          <a:xfrm>
            <a:off x="1618488" y="3502152"/>
            <a:ext cx="164592" cy="164592"/>
          </a:xfrm>
          <a:prstGeom prst="ellipse">
            <a:avLst/>
          </a:prstGeom>
          <a:solidFill>
            <a:srgbClr val="0E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3419856"/>
            <a:ext cx="52395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系统可部署、可维护、可审计，适合企业长期使用。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7" y="1627632"/>
            <a:ext cx="3310128" cy="4206240"/>
          </a:xfrm>
          <a:prstGeom prst="roundRect">
            <a:avLst/>
          </a:prstGeom>
          <a:solidFill>
            <a:srgbClr val="D2F1E8"/>
          </a:solidFill>
          <a:ln>
            <a:solidFill>
              <a:srgbClr val="DAE1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1965960"/>
            <a:ext cx="267004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lang="zh-CN">
                <a:solidFill>
                  <a:srgbClr val="0E7E76"/>
                </a:solidFill>
                <a:latin typeface="Microsoft YaHei"/>
                <a:ea typeface="Microsoft YaHei"/>
                <a:cs typeface="Microsoft YaHei"/>
              </a:rPr>
              <a:t>讲解提示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514600"/>
            <a:ext cx="2578608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lang="zh-CN">
                <a:solidFill>
                  <a:srgbClr val="0F2435"/>
                </a:solidFill>
                <a:latin typeface="Microsoft YaHei"/>
                <a:ea typeface="Microsoft YaHei"/>
                <a:cs typeface="Microsoft YaHei"/>
              </a:rPr>
              <a:t>先讲业务价值，再讲系统能力。客户最关心的是能不能上线、能不能控权限、出了问题能不能追溯。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